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A"/>
          </a:solidFill>
          <a:ln>
            <a:solidFill>
              <a:srgbClr val="0D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D2D6"/>
          </a:solidFill>
          <a:ln>
            <a:solidFill>
              <a:srgbClr val="40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RoboChess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664208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8F2"/>
                </a:solidFill>
                <a:latin typeface="Aptos"/>
              </a:rPr>
              <a:t>A configurable Isaac Lab task for sim-to-real robot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2D6"/>
                </a:solidFill>
                <a:latin typeface="Aptos"/>
              </a:rPr>
              <a:t>CoRL 2026 Workshop • Sim-Real Robot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16352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From board configuration to embodiment diversity — a single-arm visual task ready for policy development.</a:t>
            </a:r>
          </a:p>
        </p:txBody>
      </p:sp>
      <p:pic>
        <p:nvPicPr>
          <p:cNvPr id="8" name="Picture 7" descr="ur10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658368"/>
            <a:ext cx="4069080" cy="2944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60920" y="658368"/>
            <a:ext cx="4069080" cy="294436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101_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785615"/>
            <a:ext cx="1965960" cy="14264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60920" y="3785615"/>
            <a:ext cx="1965960" cy="1426464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iper_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785615"/>
            <a:ext cx="1965960" cy="14264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64040" y="3785615"/>
            <a:ext cx="1965960" cy="1426464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60716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7E3"/>
                </a:solidFill>
                <a:latin typeface="Aptos"/>
              </a:rPr>
              <a:t>Implementation snapshot •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solidFill>
              <a:srgbClr val="F2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62A"/>
                </a:solidFill>
                <a:latin typeface="Aptos"/>
              </a:rPr>
              <a:t>Why RoboChess? A compact testbed for the sim-to-real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9611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879"/>
                </a:solidFill>
                <a:latin typeface="Aptos"/>
              </a:rPr>
              <a:t>A challenge format makes perception, manipulation, planning, and robustness measurable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7280" cy="50292"/>
          </a:xfrm>
          <a:prstGeom prst="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73152" cy="1353312"/>
          </a:xfrm>
          <a:prstGeom prst="rect">
            <a:avLst/>
          </a:prstGeom>
          <a:solidFill>
            <a:srgbClr val="40D2D6"/>
          </a:solidFill>
          <a:ln>
            <a:solidFill>
              <a:srgbClr val="40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7393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1F30"/>
                </a:solidFill>
                <a:latin typeface="Aptos"/>
              </a:rPr>
              <a:t>Perceive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76272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879"/>
                </a:solidFill>
                <a:latin typeface="Aptos"/>
              </a:rPr>
              <a:t>Board state, piece identity, pose, and camera variation.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72768"/>
            <a:ext cx="73152" cy="1353312"/>
          </a:xfrm>
          <a:prstGeom prst="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7393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1F30"/>
                </a:solidFill>
                <a:latin typeface="Aptos"/>
              </a:rPr>
              <a:t>Manipulate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76272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879"/>
                </a:solidFill>
                <a:latin typeface="Aptos"/>
              </a:rPr>
              <a:t>Pick, place, avoid collisions, and execute legal moves.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72768"/>
            <a:ext cx="35204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572768"/>
            <a:ext cx="73152" cy="1353312"/>
          </a:xfrm>
          <a:prstGeom prst="rect">
            <a:avLst/>
          </a:prstGeom>
          <a:solidFill>
            <a:srgbClr val="F59741"/>
          </a:solidFill>
          <a:ln>
            <a:solidFill>
              <a:srgbClr val="F5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77393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1F30"/>
                </a:solidFill>
                <a:latin typeface="Aptos"/>
              </a:rPr>
              <a:t>Generalize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176272"/>
            <a:ext cx="3063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879"/>
                </a:solidFill>
                <a:latin typeface="Aptos"/>
              </a:rPr>
              <a:t>Across simulators, robot embodiments, and real-world perturbations.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62A"/>
                </a:solidFill>
                <a:latin typeface="Aptos"/>
              </a:rPr>
              <a:t>Workshop research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968496"/>
            <a:ext cx="91440" cy="91440"/>
          </a:xfrm>
          <a:prstGeom prst="round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58768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1F30"/>
                </a:solidFill>
                <a:latin typeface="Aptos"/>
              </a:rPr>
              <a:t>Uniform, quantitative evaluation of robot-learning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535424"/>
            <a:ext cx="91440" cy="91440"/>
          </a:xfrm>
          <a:prstGeom prst="round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25696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1F30"/>
                </a:solidFill>
                <a:latin typeface="Aptos"/>
              </a:rPr>
              <a:t>From visually plausible rollouts to repeatable long-horizon task solving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102352"/>
            <a:ext cx="91440" cy="91440"/>
          </a:xfrm>
          <a:prstGeom prst="round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992624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1F30"/>
                </a:solidFill>
                <a:latin typeface="Aptos"/>
              </a:rPr>
              <a:t>Robustness under lighting, viewpoint, object-pose, and embodiment shifts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419856"/>
            <a:ext cx="4773168" cy="2011680"/>
          </a:xfrm>
          <a:prstGeom prst="roundRect">
            <a:avLst/>
          </a:prstGeom>
          <a:solidFill>
            <a:srgbClr val="0D162A"/>
          </a:solidFill>
          <a:ln>
            <a:solidFill>
              <a:srgbClr val="0D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7307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RoboChess contribution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24528"/>
            <a:ext cx="37947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AE5F8"/>
                </a:solidFill>
                <a:latin typeface="Aptos"/>
              </a:rPr>
              <a:t>A standardized sim-to-real manipulation challenge that combines chess reasoning with physical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0807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879"/>
                </a:solidFill>
                <a:latin typeface="Aptos"/>
              </a:rPr>
              <a:t>Source: CoRL 2026 workshop proposal and challenge 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2881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879"/>
                </a:solidFill>
                <a:latin typeface="Aptos"/>
              </a:rPr>
              <a:t>RoboChess × Isaac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5288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879"/>
                </a:solidFill>
                <a:latin typeface="Apto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62A"/>
                </a:solidFill>
                <a:latin typeface="Aptos"/>
              </a:rPr>
              <a:t>Isaac Lab task: one interface, four chess scales, six embodiments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9611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879"/>
                </a:solidFill>
                <a:latin typeface="Aptos"/>
              </a:rPr>
              <a:t>Manager-based scene configuration keeps the first visual stage simple and composable.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7280" cy="50292"/>
          </a:xfrm>
          <a:prstGeom prst="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62A"/>
                </a:solidFill>
                <a:latin typeface="Aptos"/>
              </a:rPr>
              <a:t>Chess scenario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1225296" cy="960120"/>
          </a:xfrm>
          <a:prstGeom prst="roundRect">
            <a:avLst/>
          </a:prstGeom>
          <a:solidFill>
            <a:srgbClr val="40D2D6"/>
          </a:solidFill>
          <a:ln>
            <a:solidFill>
              <a:srgbClr val="40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5798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six-piece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965960"/>
            <a:ext cx="1225296" cy="960120"/>
          </a:xfrm>
          <a:prstGeom prst="roundRect">
            <a:avLst/>
          </a:prstGeom>
          <a:solidFill>
            <a:srgbClr val="2AAE78"/>
          </a:solidFill>
          <a:ln>
            <a:solidFill>
              <a:srgbClr val="2AA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15798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 ×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87168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pawn microgame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965960"/>
            <a:ext cx="1225296" cy="960120"/>
          </a:xfrm>
          <a:prstGeom prst="round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15798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 ×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487168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minichess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46904" y="1965960"/>
            <a:ext cx="1225296" cy="960120"/>
          </a:xfrm>
          <a:prstGeom prst="roundRect">
            <a:avLst/>
          </a:prstGeom>
          <a:solidFill>
            <a:srgbClr val="F59741"/>
          </a:solidFill>
          <a:ln>
            <a:solidFill>
              <a:srgbClr val="F59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2157984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8 ×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2487168"/>
            <a:ext cx="1225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standard chess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62A"/>
                </a:solidFill>
                <a:latin typeface="Aptos"/>
              </a:rPr>
              <a:t>Robot argument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38544" y="1965960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084831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SO-101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965960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2084831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Piper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965960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084831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UR10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38544" y="2624328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2743200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Flexiv Rizon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2624328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743200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Rebot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624328"/>
            <a:ext cx="1344168" cy="457200"/>
          </a:xfrm>
          <a:prstGeom prst="roundRect">
            <a:avLst/>
          </a:prstGeom>
          <a:solidFill>
            <a:srgbClr val="F2F6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743200"/>
            <a:ext cx="1344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YAM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3657600"/>
            <a:ext cx="10661904" cy="1353312"/>
          </a:xfrm>
          <a:prstGeom prst="roundRect">
            <a:avLst/>
          </a:prstGeom>
          <a:solidFill>
            <a:srgbClr val="F2F6FC"/>
          </a:solidFill>
          <a:ln>
            <a:solidFill>
              <a:srgbClr val="F2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3886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62A"/>
                </a:solidFill>
                <a:latin typeface="Aptos"/>
              </a:rPr>
              <a:t>Launch contract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7792" y="3858768"/>
            <a:ext cx="7973568" cy="457200"/>
          </a:xfrm>
          <a:prstGeom prst="roundRect">
            <a:avLst/>
          </a:prstGeom>
          <a:solidFill>
            <a:srgbClr val="0D162A"/>
          </a:solidFill>
          <a:ln>
            <a:solidFill>
              <a:srgbClr val="0D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3986784"/>
            <a:ext cx="7479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python scripts/zero_agent.py --task RoboChess-UR10-Visual-v0 --chess_scenario 1d --robot ur10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55371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879"/>
                </a:solidFill>
                <a:latin typeface="Aptos"/>
              </a:rPr>
              <a:t>Local chess USD assets • table and camera • stationary single-arm visual scene • no teleoperation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2881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879"/>
                </a:solidFill>
                <a:latin typeface="Aptos"/>
              </a:rPr>
              <a:t>RoboChess × Isaac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65288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879"/>
                </a:solidFill>
                <a:latin typeface="Apto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solidFill>
              <a:srgbClr val="F2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62A"/>
                </a:solidFill>
                <a:latin typeface="Aptos"/>
              </a:rPr>
              <a:t>Visual validation: 1D chess rendered across robot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9611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879"/>
                </a:solidFill>
                <a:latin typeface="Aptos"/>
              </a:rPr>
              <a:t>The corrected camera explicitly targets the tabletop, chess pieces, and robot workspace.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97280" cy="50292"/>
          </a:xfrm>
          <a:prstGeom prst="rect">
            <a:avLst/>
          </a:prstGeom>
          <a:solidFill>
            <a:srgbClr val="3A74FF"/>
          </a:solidFill>
          <a:ln>
            <a:solidFill>
              <a:srgbClr val="3A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101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3410712" cy="1664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1508760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282696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SO-101</a:t>
            </a:r>
          </a:p>
        </p:txBody>
      </p:sp>
      <p:pic>
        <p:nvPicPr>
          <p:cNvPr id="9" name="Picture 8" descr="piper_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08760"/>
            <a:ext cx="3410712" cy="16642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80560" y="1508760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3282696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Piper</a:t>
            </a:r>
          </a:p>
        </p:txBody>
      </p:sp>
      <p:pic>
        <p:nvPicPr>
          <p:cNvPr id="12" name="Picture 11" descr="ur10_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508760"/>
            <a:ext cx="3410712" cy="16642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75320" y="1508760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282696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UR10</a:t>
            </a:r>
          </a:p>
        </p:txBody>
      </p:sp>
      <p:pic>
        <p:nvPicPr>
          <p:cNvPr id="15" name="Picture 14" descr="flexiv_rizon_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21608"/>
            <a:ext cx="3410712" cy="166420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3721608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95544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Flexiv Rizon</a:t>
            </a:r>
          </a:p>
        </p:txBody>
      </p:sp>
      <p:pic>
        <p:nvPicPr>
          <p:cNvPr id="18" name="Picture 17" descr="rebot_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3721608"/>
            <a:ext cx="3410712" cy="166420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80560" y="3721608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5495544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Rebot</a:t>
            </a:r>
          </a:p>
        </p:txBody>
      </p:sp>
      <p:pic>
        <p:nvPicPr>
          <p:cNvPr id="21" name="Picture 20" descr="yam_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721608"/>
            <a:ext cx="3410712" cy="16642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75320" y="3721608"/>
            <a:ext cx="3410712" cy="1664208"/>
          </a:xfrm>
          <a:prstGeom prst="rect">
            <a:avLst/>
          </a:prstGeom>
          <a:solidFill>
            <a:srgbClr val="FFFFFF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5495544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51F30"/>
                </a:solidFill>
                <a:latin typeface="Aptos"/>
              </a:rPr>
              <a:t>YAM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053328"/>
            <a:ext cx="10607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879"/>
                </a:solidFill>
                <a:latin typeface="Aptos"/>
              </a:rPr>
              <a:t>All six configurations were instantiated for the same 1D board layout. These are scene-validation renders, not policy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2881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879"/>
                </a:solidFill>
                <a:latin typeface="Aptos"/>
              </a:rPr>
              <a:t>RoboChess × Isaac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5288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879"/>
                </a:solidFill>
                <a:latin typeface="Apto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A"/>
          </a:solidFill>
          <a:ln>
            <a:solidFill>
              <a:srgbClr val="0D1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From visual task to benchmark-ready 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D2EF"/>
                </a:solidFill>
                <a:latin typeface="Aptos"/>
              </a:rPr>
              <a:t>A staged path from reliable scene construction to reproducible sim-to-real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97280" cy="50292"/>
          </a:xfrm>
          <a:prstGeom prst="rect">
            <a:avLst/>
          </a:prstGeom>
          <a:solidFill>
            <a:srgbClr val="40D2D6"/>
          </a:solidFill>
          <a:ln>
            <a:solidFill>
              <a:srgbClr val="40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487168" cy="2240280"/>
          </a:xfrm>
          <a:prstGeom prst="roundRect">
            <a:avLst/>
          </a:prstGeom>
          <a:solidFill>
            <a:srgbClr val="192745"/>
          </a:solidFill>
          <a:ln>
            <a:solidFill>
              <a:srgbClr val="3B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0D2D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Task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54096"/>
            <a:ext cx="1965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6EC"/>
                </a:solidFill>
                <a:latin typeface="Aptos"/>
              </a:rPr>
              <a:t>Piece poses, grasp logic, legal actions, and resets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828800"/>
            <a:ext cx="2487168" cy="2240280"/>
          </a:xfrm>
          <a:prstGeom prst="roundRect">
            <a:avLst/>
          </a:prstGeom>
          <a:solidFill>
            <a:srgbClr val="192745"/>
          </a:solidFill>
          <a:ln>
            <a:solidFill>
              <a:srgbClr val="3B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084831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74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50545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Learning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054096"/>
            <a:ext cx="1965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6EC"/>
                </a:solidFill>
                <a:latin typeface="Aptos"/>
              </a:rPr>
              <a:t>Observations, rewards, success metrics, and baselines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828800"/>
            <a:ext cx="2487168" cy="2240280"/>
          </a:xfrm>
          <a:prstGeom prst="roundRect">
            <a:avLst/>
          </a:prstGeom>
          <a:solidFill>
            <a:srgbClr val="192745"/>
          </a:solidFill>
          <a:ln>
            <a:solidFill>
              <a:srgbClr val="3B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2084831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74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50545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Robustness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3054096"/>
            <a:ext cx="1965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6EC"/>
                </a:solidFill>
                <a:latin typeface="Aptos"/>
              </a:rPr>
              <a:t>Camera, lighting, pose, and embodiment randomization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7152" y="1828800"/>
            <a:ext cx="2487168" cy="2240280"/>
          </a:xfrm>
          <a:prstGeom prst="roundRect">
            <a:avLst/>
          </a:prstGeom>
          <a:solidFill>
            <a:srgbClr val="192745"/>
          </a:solidFill>
          <a:ln>
            <a:solidFill>
              <a:srgbClr val="3B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2084831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AE7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505456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Sim-to-real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3054096"/>
            <a:ext cx="1965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6EC"/>
                </a:solidFill>
                <a:latin typeface="Aptos"/>
              </a:rPr>
              <a:t>Calibration, demonstrations, real robot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28032"/>
            <a:ext cx="10899648" cy="804672"/>
          </a:xfrm>
          <a:prstGeom prst="roundRect">
            <a:avLst/>
          </a:prstGeom>
          <a:solidFill>
            <a:srgbClr val="192745"/>
          </a:solidFill>
          <a:ln>
            <a:solidFill>
              <a:srgbClr val="3B4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07492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0D2D6"/>
                </a:solidFill>
                <a:latin typeface="Aptos"/>
              </a:rPr>
              <a:t>Current deliverable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056632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 versioned Isaac Lab RoboChess scene with scenario and robot selection, local chess assets, and camera-validated renders.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6208776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1C4E4"/>
                </a:solidFill>
                <a:latin typeface="Aptos"/>
              </a:rPr>
              <a:t>References: CoRL 2026 Workshop Proposal • sites.google.com/view/corl-workshop-robochess/home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52881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1C4E4"/>
                </a:solidFill>
                <a:latin typeface="Apto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